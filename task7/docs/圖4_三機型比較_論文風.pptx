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05000" cy="88423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125" y="123428"/>
            <a:ext cx="6981031" cy="3468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4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智元三款四足機器狗：運算平台、SDK 能力與單顆馬達控制可行性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125" y="416520"/>
            <a:ext cx="894357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硬體規格為實機實測（cat /proc/device-tree/model、lscpu、free -h、dmesg）；SDK 與控制介面為官方文件＋二進位符號分析＋實機偵察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1381125" y="714375"/>
            <a:ext cx="4032250" cy="603250"/>
          </a:xfrm>
          <a:prstGeom prst="rect">
            <a:avLst/>
          </a:prstGeom>
          <a:solidFill>
            <a:srgbClr val="DCDAD5"/>
          </a:solidFill>
          <a:ln w="11112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125" y="760809"/>
            <a:ext cx="1005085" cy="316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1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D1 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3937" y="815578"/>
            <a:ext cx="1061640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輪足・小狗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125" y="1029890"/>
            <a:ext cx="2587128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16 軸（12 腿＋4 輪）　20.6 kg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19750" y="714375"/>
            <a:ext cx="4032250" cy="603250"/>
          </a:xfrm>
          <a:prstGeom prst="rect">
            <a:avLst/>
          </a:prstGeom>
          <a:solidFill>
            <a:srgbClr val="DCDAD5"/>
          </a:solidFill>
          <a:ln w="11112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6750" y="760809"/>
            <a:ext cx="1005085" cy="316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1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D1 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2562" y="815578"/>
            <a:ext cx="1061640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輪足・中狗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6750" y="1029890"/>
            <a:ext cx="2423417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16 軸（12 腿＋4 輪）　41 kg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8375" y="714375"/>
            <a:ext cx="4032250" cy="603250"/>
          </a:xfrm>
          <a:prstGeom prst="rect">
            <a:avLst/>
          </a:prstGeom>
          <a:solidFill>
            <a:srgbClr val="DCDAD5"/>
          </a:solidFill>
          <a:ln w="11112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85375" y="760809"/>
            <a:ext cx="1348878" cy="316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1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D1 MaxPro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8843" y="815578"/>
            <a:ext cx="1061640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點足・大狗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5375" y="1029890"/>
            <a:ext cx="1270000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12 軸　68 kg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125" y="1423193"/>
            <a:ext cx="13874750" cy="1111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125" y="1516260"/>
            <a:ext cx="808632" cy="248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（甲）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125" y="1713507"/>
            <a:ext cx="1012031" cy="2639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運算平台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125" y="1949648"/>
            <a:ext cx="813593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實機實測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1125" y="1539875"/>
            <a:ext cx="4032250" cy="1492250"/>
          </a:xfrm>
          <a:prstGeom prst="rect">
            <a:avLst/>
          </a:prstGeom>
          <a:solidFill>
            <a:srgbClr val="F2F1EE"/>
          </a:solidFill>
          <a:ln w="11112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125" y="1611510"/>
            <a:ext cx="2118320" cy="248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Firefly AIO-3588SJD4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125" y="1813520"/>
            <a:ext cx="1824384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Rockchip RK3588・單板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125" y="2010767"/>
            <a:ext cx="1792138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CPU　4×A76 ＋ 4×A55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125" y="2201267"/>
            <a:ext cx="2079873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RAM　7.7 GiB（無 swap）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125" y="2391767"/>
            <a:ext cx="1727398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GPU　Mali-G610 MP4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125" y="2582267"/>
            <a:ext cx="2123033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NPU　RKNPU driver 0.9.2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125" y="2772767"/>
            <a:ext cx="2662535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OS　Ubuntu 22.04.4・eMMC 64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125" y="4466828"/>
            <a:ext cx="1210468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單一算力平台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19750" y="1539875"/>
            <a:ext cx="4032250" cy="1301750"/>
          </a:xfrm>
          <a:prstGeom prst="rect">
            <a:avLst/>
          </a:prstGeom>
          <a:solidFill>
            <a:srgbClr val="F2F1EE"/>
          </a:solidFill>
          <a:ln w="11112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6750" y="1611510"/>
            <a:ext cx="2118320" cy="248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Firefly AIO-3588SJD4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6750" y="1813520"/>
            <a:ext cx="1824384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Rockchip RK3588・運控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46750" y="2010767"/>
            <a:ext cx="1792138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CPU　4×A76 ＋ 4×A55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46750" y="2201267"/>
            <a:ext cx="1252636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RAM　7.7 GiB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46750" y="2391767"/>
            <a:ext cx="1727398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GPU　Mali-G610 MP4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6750" y="2582267"/>
            <a:ext cx="1569144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NPU　RKNPU 0.9.2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19750" y="2921000"/>
            <a:ext cx="4032250" cy="1301750"/>
          </a:xfrm>
          <a:prstGeom prst="rect">
            <a:avLst/>
          </a:prstGeom>
          <a:solidFill>
            <a:srgbClr val="F2F1EE"/>
          </a:solidFill>
          <a:ln w="11112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46750" y="2992635"/>
            <a:ext cx="2658566" cy="248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NVIDIA Jetson Orin NX 16GB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46750" y="3194645"/>
            <a:ext cx="179089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應用・建圖／定位／導航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46750" y="3391892"/>
            <a:ext cx="2662535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CPU　8×Cortex-A78AE　1.984 GHz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46750" y="3582392"/>
            <a:ext cx="1173509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RAM　15 GiB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46750" y="3772892"/>
            <a:ext cx="1648271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GPU　NVIDIA ga10b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46750" y="3963392"/>
            <a:ext cx="1792138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DLA　NVDLA0／NVDLA1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46750" y="4466828"/>
            <a:ext cx="1738808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★ 兩塊獨立高算力板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58375" y="1539875"/>
            <a:ext cx="4032250" cy="1492250"/>
          </a:xfrm>
          <a:prstGeom prst="rect">
            <a:avLst/>
          </a:prstGeom>
          <a:solidFill>
            <a:srgbClr val="F2F1EE"/>
          </a:solidFill>
          <a:ln w="11112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85375" y="1611510"/>
            <a:ext cx="2118320" cy="248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Firefly AIO-3588SJD4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5375" y="1813520"/>
            <a:ext cx="1958330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Rockchip RK3588・主控板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5375" y="2010767"/>
            <a:ext cx="1792138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CPU　4×A76 ＋ 4×A55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85375" y="2201267"/>
            <a:ext cx="2015132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RAM　7.7 GiB（Swap 0）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85375" y="2391767"/>
            <a:ext cx="1727398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GPU　Mali-G610 MP4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85375" y="2582267"/>
            <a:ext cx="3043783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NPU　RKNPU 0.9.2・librknnrt／librga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5375" y="2772767"/>
            <a:ext cx="2979042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OS　Ubuntu 22.04.5・kernel 5.10-rt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58375" y="3111500"/>
            <a:ext cx="4032250" cy="730250"/>
          </a:xfrm>
          <a:prstGeom prst="rect">
            <a:avLst/>
          </a:prstGeom>
          <a:solidFill>
            <a:srgbClr val="FFFFFF"/>
          </a:solidFill>
          <a:ln w="7937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85375" y="3183135"/>
            <a:ext cx="808632" cy="248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轉發板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85375" y="3385145"/>
            <a:ext cx="1476126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CAN／關節訊號轉發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85375" y="3582392"/>
            <a:ext cx="1468437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非第二塊高算力板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85375" y="4466828"/>
            <a:ext cx="2549921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主控板＋轉發板（非第二算力板）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125" y="4709318"/>
            <a:ext cx="13874750" cy="1111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125" y="4818260"/>
            <a:ext cx="808632" cy="248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（乙）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125" y="5015507"/>
            <a:ext cx="603994" cy="2639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SDK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125" y="5206007"/>
            <a:ext cx="1012031" cy="2639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可寫深度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125" y="5442148"/>
            <a:ext cx="813593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官方介面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81125" y="4841875"/>
            <a:ext cx="4032250" cy="261937"/>
          </a:xfrm>
          <a:prstGeom prst="rect">
            <a:avLst/>
          </a:prstGeom>
          <a:solidFill>
            <a:srgbClr val="FFFFFF"/>
          </a:solidFill>
          <a:ln w="7143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92250" y="4884142"/>
            <a:ext cx="3238003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L4　單顆馬達　角度・角速度・力矩・Kp・Kd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81125" y="5159375"/>
            <a:ext cx="4032250" cy="261937"/>
          </a:xfrm>
          <a:prstGeom prst="rect">
            <a:avLst/>
          </a:prstGeom>
          <a:solidFill>
            <a:srgbClr val="FFFFFF"/>
          </a:solidFill>
          <a:ln w="7143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92250" y="5201642"/>
            <a:ext cx="1914425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L3　關節層　位置／速度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81125" y="5476875"/>
            <a:ext cx="4032250" cy="261937"/>
          </a:xfrm>
          <a:prstGeom prst="rect">
            <a:avLst/>
          </a:prstGeom>
          <a:solidFill>
            <a:srgbClr val="BCB9B1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92250" y="5519142"/>
            <a:ext cx="2921496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L2　姿態動作　站立・趴下・匍匐・爬階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81125" y="5794375"/>
            <a:ext cx="4032250" cy="261937"/>
          </a:xfrm>
          <a:prstGeom prst="rect">
            <a:avLst/>
          </a:prstGeom>
          <a:solidFill>
            <a:srgbClr val="BCB9B1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92250" y="5836642"/>
            <a:ext cx="2684115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L1　整機速度　move(vx, vy, yaw)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81125" y="5466556"/>
            <a:ext cx="4032250" cy="2063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119562" y="5278437"/>
            <a:ext cx="1230312" cy="1666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28603" y="5282207"/>
            <a:ext cx="1489521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4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官方 SDK 止步於此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19750" y="4841875"/>
            <a:ext cx="4032250" cy="261937"/>
          </a:xfrm>
          <a:prstGeom prst="rect">
            <a:avLst/>
          </a:prstGeom>
          <a:solidFill>
            <a:srgbClr val="FFFFFF"/>
          </a:solidFill>
          <a:ln w="7143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30875" y="4884142"/>
            <a:ext cx="3238003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L4　單顆馬達　角度・角速度・力矩・Kp・Kd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19750" y="5159375"/>
            <a:ext cx="4032250" cy="261937"/>
          </a:xfrm>
          <a:prstGeom prst="rect">
            <a:avLst/>
          </a:prstGeom>
          <a:solidFill>
            <a:srgbClr val="FFFFFF"/>
          </a:solidFill>
          <a:ln w="7143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30875" y="5201642"/>
            <a:ext cx="1914425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L3　關節層　位置／速度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19750" y="5476875"/>
            <a:ext cx="4032250" cy="261937"/>
          </a:xfrm>
          <a:prstGeom prst="rect">
            <a:avLst/>
          </a:prstGeom>
          <a:solidFill>
            <a:srgbClr val="BCB9B1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30875" y="5519142"/>
            <a:ext cx="2921496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L2　姿態動作　站立・趴下・匍匐・爬階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19750" y="5794375"/>
            <a:ext cx="4032250" cy="261937"/>
          </a:xfrm>
          <a:prstGeom prst="rect">
            <a:avLst/>
          </a:prstGeom>
          <a:solidFill>
            <a:srgbClr val="BCB9B1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730875" y="5836642"/>
            <a:ext cx="2684115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L1　整機速度　move(vx, vy, yaw)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19750" y="5466556"/>
            <a:ext cx="4032250" cy="2063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58187" y="5278437"/>
            <a:ext cx="1230312" cy="1666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67228" y="5282207"/>
            <a:ext cx="1489521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4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官方 SDK 止步於此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858375" y="4841875"/>
            <a:ext cx="4032250" cy="261937"/>
          </a:xfrm>
          <a:prstGeom prst="rect">
            <a:avLst/>
          </a:prstGeom>
          <a:solidFill>
            <a:srgbClr val="BCB9B1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69500" y="4884142"/>
            <a:ext cx="3238003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L4　單顆馬達　角度・角速度・力矩・Kp・Kd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58375" y="5159375"/>
            <a:ext cx="4032250" cy="261937"/>
          </a:xfrm>
          <a:prstGeom prst="rect">
            <a:avLst/>
          </a:prstGeom>
          <a:solidFill>
            <a:srgbClr val="BCB9B1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69500" y="5201642"/>
            <a:ext cx="1914425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L3　關節層　位置／速度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58375" y="5476875"/>
            <a:ext cx="4032250" cy="261937"/>
          </a:xfrm>
          <a:prstGeom prst="rect">
            <a:avLst/>
          </a:prstGeom>
          <a:solidFill>
            <a:srgbClr val="BCB9B1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69500" y="5519142"/>
            <a:ext cx="2921496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L2　姿態動作　站立・趴下・匍匐・爬階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858375" y="5794375"/>
            <a:ext cx="4032250" cy="261937"/>
          </a:xfrm>
          <a:prstGeom prst="rect">
            <a:avLst/>
          </a:prstGeom>
          <a:solidFill>
            <a:srgbClr val="BCB9B1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69500" y="5836642"/>
            <a:ext cx="2684115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L1　整機速度　move(vx, vy, yaw)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81125" y="6191250"/>
            <a:ext cx="4032250" cy="254000"/>
          </a:xfrm>
          <a:prstGeom prst="rect">
            <a:avLst/>
          </a:prstGeom>
          <a:solidFill>
            <a:srgbClr val="FFFFFF"/>
          </a:solidFill>
          <a:ln w="7143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492250" y="6238081"/>
            <a:ext cx="1748234" cy="211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讀取　16 軸狀態・IMU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19750" y="6191250"/>
            <a:ext cx="4032250" cy="254000"/>
          </a:xfrm>
          <a:prstGeom prst="rect">
            <a:avLst/>
          </a:prstGeom>
          <a:solidFill>
            <a:srgbClr val="FFFFFF"/>
          </a:solidFill>
          <a:ln w="7143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30875" y="6238081"/>
            <a:ext cx="3276203" cy="211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讀取　16 軸狀態＋關節溫度・IMU・光達・導航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858375" y="6191250"/>
            <a:ext cx="4032250" cy="254000"/>
          </a:xfrm>
          <a:prstGeom prst="rect">
            <a:avLst/>
          </a:prstGeom>
          <a:solidFill>
            <a:srgbClr val="FFFFFF"/>
          </a:solidFill>
          <a:ln w="7143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69500" y="6238081"/>
            <a:ext cx="2720578" cy="211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讀取　12 軸狀態・IMU・里程計・點雲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92250" y="6532959"/>
            <a:ext cx="2858492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6B6B6B"/>
                </a:solidFill>
                <a:latin typeface="Noto Sans Mono CJK TC"/>
                <a:ea typeface="Noto Sans Mono CJK TC"/>
                <a:cs typeface="Noto Sans Mono CJK TC"/>
              </a:rPr>
              <a:t>mc_sdk::zsl_1w::HighLevel　UDP 50 Hz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730875" y="6532959"/>
            <a:ext cx="2503785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6B6B6B"/>
                </a:solidFill>
                <a:latin typeface="Noto Sans Mono CJK TC"/>
                <a:ea typeface="Noto Sans Mono CJK TC"/>
                <a:cs typeface="Noto Sans Mono CJK TC"/>
              </a:rPr>
              <a:t>robot_sdk::SDKClient　UDP :8082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969500" y="6532959"/>
            <a:ext cx="2239367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6B6B6B"/>
                </a:solidFill>
                <a:latin typeface="Noto Sans Mono CJK TC"/>
                <a:ea typeface="Noto Sans Mono CJK TC"/>
                <a:cs typeface="Noto Sans Mono CJK TC"/>
              </a:rPr>
              <a:t>高層 TCP ＋ 底層 ROS 1 topic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125" y="6693693"/>
            <a:ext cx="13874750" cy="1111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125" y="6802635"/>
            <a:ext cx="808632" cy="248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（丙）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5125" y="6999882"/>
            <a:ext cx="1012031" cy="2639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單顆馬達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65125" y="7190382"/>
            <a:ext cx="664765" cy="2639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控制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81125" y="6778625"/>
            <a:ext cx="4032250" cy="936625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508125" y="6859389"/>
            <a:ext cx="1086445" cy="233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69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官方不提供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08125" y="7063184"/>
            <a:ext cx="942578" cy="316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1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做得到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08125" y="7344767"/>
            <a:ext cx="2051099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/spline_shm　共享記憶體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19750" y="6778625"/>
            <a:ext cx="4032250" cy="936625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746750" y="6859389"/>
            <a:ext cx="1086445" cy="233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69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官方不提供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46750" y="7063184"/>
            <a:ext cx="1567656" cy="316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1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極可能做得到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46750" y="7344767"/>
            <a:ext cx="2950269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/dev/shm/joint_cmd　16 軸 × 5 欄位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858375" y="6778625"/>
            <a:ext cx="4032250" cy="936625"/>
          </a:xfrm>
          <a:prstGeom prst="rect">
            <a:avLst/>
          </a:prstGeom>
          <a:solidFill>
            <a:srgbClr val="F2F1EE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985375" y="6859389"/>
            <a:ext cx="1171029" cy="233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★ 官方提供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985375" y="7063184"/>
            <a:ext cx="942578" cy="316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1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做得到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985375" y="7344767"/>
            <a:ext cx="2043906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ROS 1 topic　rt/lowcmd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020847" y="6882209"/>
            <a:ext cx="1742777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1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底層 SDK 須安裝 ROS 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125" y="7916068"/>
            <a:ext cx="13874750" cy="1111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65125" y="7948017"/>
            <a:ext cx="1864072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圖 4 · 三款機型比較。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71625" y="7948017"/>
            <a:ext cx="8316515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（甲）運算平台：D1 Max 是三台中唯一的雙高算力板；D1 MaxPro 雖是大狗，算力平台與小狗 D1 EDU 同為單顆 RK3588。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65125" y="8130579"/>
            <a:ext cx="10683130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（乙）三台的「讀」幾乎全開，差別在「寫」——D1 EDU 與 D1 Max 的官方 SDK 只到姿態動作層，送不了關節角度或力矩；只有 D1 MaxPro 開放到單顆馬達。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125" y="8313142"/>
            <a:ext cx="10409783" cy="2186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（丙）D1 EDU 與 D1 Max 官方雖不提供，但機上存在共享記憶體介面可繞過 SDK：D1 EDU 已實機驗證三種控制模式，D1 Max 結構已解出、僅差寫入未測。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5125" y="8537773"/>
            <a:ext cx="7554267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註：D1 MaxPro 官方文件的 SSH 帳號為 jetson，但實測主控板為 Firefly RK3588，兩者不一致，機型批次差異待向原廠確認。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